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ublic Sans"/>
      <p:regular r:id="rId22"/>
      <p:bold r:id="rId23"/>
      <p:italic r:id="rId24"/>
      <p:boldItalic r:id="rId25"/>
    </p:embeddedFont>
    <p:embeddedFont>
      <p:font typeface="Helvetica Neue"/>
      <p:regular r:id="rId26"/>
      <p:bold r:id="rId27"/>
      <p:italic r:id="rId28"/>
      <p:boldItalic r:id="rId29"/>
    </p:embeddedFont>
    <p:embeddedFont>
      <p:font typeface="Chakra Petch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ublicSans-regular.fntdata"/><Relationship Id="rId21" Type="http://schemas.openxmlformats.org/officeDocument/2006/relationships/slide" Target="slides/slide16.xml"/><Relationship Id="rId24" Type="http://schemas.openxmlformats.org/officeDocument/2006/relationships/font" Target="fonts/PublicSans-italic.fntdata"/><Relationship Id="rId23" Type="http://schemas.openxmlformats.org/officeDocument/2006/relationships/font" Target="fonts/Public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regular.fntdata"/><Relationship Id="rId25" Type="http://schemas.openxmlformats.org/officeDocument/2006/relationships/font" Target="fonts/PublicSans-boldItalic.fntdata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hakraPetch-bold.fntdata"/><Relationship Id="rId30" Type="http://schemas.openxmlformats.org/officeDocument/2006/relationships/font" Target="fonts/ChakraPetch-regular.fntdata"/><Relationship Id="rId11" Type="http://schemas.openxmlformats.org/officeDocument/2006/relationships/slide" Target="slides/slide6.xml"/><Relationship Id="rId33" Type="http://schemas.openxmlformats.org/officeDocument/2006/relationships/font" Target="fonts/ChakraPetch-boldItalic.fntdata"/><Relationship Id="rId10" Type="http://schemas.openxmlformats.org/officeDocument/2006/relationships/slide" Target="slides/slide5.xml"/><Relationship Id="rId32" Type="http://schemas.openxmlformats.org/officeDocument/2006/relationships/font" Target="fonts/ChakraPetch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ada853d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ada853d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52dcaae2d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52dcaae2d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52dcaae2d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52dcaae2d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add notes to these slides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8ffc536fe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8ffc536fe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ffc536fe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ffc536fe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8ffc536fe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8ffc536fe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ffc536fe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ffc536fe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Configurations for sending phishing emails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2af23cab69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2af23cab69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Predefined phishing email formats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2af23cab69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2af23cab6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Fake web pages designed to capture credentials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af23cab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af23cab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 Target audience for phishing campaigns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af23cab69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af23cab69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End-to-end phishing attack simulation</a:t>
            </a:r>
            <a:endParaRPr sz="18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ffc536fe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ffc536fe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8ffc536fe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8ffc536fe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8ffc536fe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8ffc536fe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af23cab69_2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af23cab69_2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1718500"/>
            <a:ext cx="8327100" cy="179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6000"/>
              <a:buFont typeface="Public Sans"/>
              <a:buNone/>
              <a:defRPr b="1" sz="6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3175" y="1292475"/>
            <a:ext cx="2430696" cy="32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1150" y="3540425"/>
            <a:ext cx="6924000" cy="62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65655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 sz="14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ublic Sans"/>
              <a:buNone/>
              <a:defRPr b="1" sz="24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●"/>
              <a:defRPr sz="1200">
                <a:latin typeface="Public Sans"/>
                <a:ea typeface="Public Sans"/>
                <a:cs typeface="Public Sans"/>
                <a:sym typeface="Public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○"/>
              <a:defRPr sz="1200">
                <a:latin typeface="Public Sans"/>
                <a:ea typeface="Public Sans"/>
                <a:cs typeface="Public Sans"/>
                <a:sym typeface="Public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Public Sans"/>
              <a:buChar char="■"/>
              <a:defRPr sz="1200"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800"/>
              <a:buFont typeface="Public Sans"/>
              <a:buNone/>
              <a:defRPr b="1" sz="4800"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306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81475" y="13702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Font typeface="Public Sans"/>
              <a:buNone/>
              <a:defRPr b="1" sz="36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81475" y="2940150"/>
            <a:ext cx="40452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None/>
              <a:defRPr b="1">
                <a:latin typeface="Public Sans"/>
                <a:ea typeface="Public Sans"/>
                <a:cs typeface="Public Sans"/>
                <a:sym typeface="Public Sans"/>
              </a:defRPr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Public Sans"/>
              <a:buNone/>
              <a:defRPr b="1" sz="12000"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●"/>
              <a:defRPr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○"/>
              <a:defRPr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Public Sans"/>
              <a:buChar char="■"/>
              <a:defRPr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ublic Sans"/>
              <a:buNone/>
              <a:defRPr b="1" sz="2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ublic Sans"/>
              <a:buNone/>
              <a:defRPr b="1" sz="28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●"/>
              <a:defRPr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●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○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ublic Sans"/>
              <a:buChar char="■"/>
              <a:defRPr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github.com/JKelly434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0" y="1442175"/>
            <a:ext cx="9144000" cy="119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Introduction to Phishing Architecture</a:t>
            </a:r>
            <a:endParaRPr sz="39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416900" y="2801250"/>
            <a:ext cx="6310200" cy="571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Utilizing </a:t>
            </a:r>
            <a:r>
              <a:rPr lang="en" sz="1600">
                <a:solidFill>
                  <a:srgbClr val="1ABC9C"/>
                </a:solidFill>
              </a:rPr>
              <a:t>GoPhish </a:t>
            </a:r>
            <a:r>
              <a:rPr lang="en" sz="1600"/>
              <a:t>to Create an Automated P</a:t>
            </a:r>
            <a:r>
              <a:rPr lang="en" sz="1600"/>
              <a:t>hishing</a:t>
            </a:r>
            <a:r>
              <a:rPr lang="en" sz="1600"/>
              <a:t> Framework</a:t>
            </a:r>
            <a:endParaRPr sz="1600"/>
          </a:p>
        </p:txBody>
      </p:sp>
      <p:sp>
        <p:nvSpPr>
          <p:cNvPr id="57" name="Google Shape;57;p13"/>
          <p:cNvSpPr txBox="1"/>
          <p:nvPr/>
        </p:nvSpPr>
        <p:spPr>
          <a:xfrm>
            <a:off x="3773250" y="3373050"/>
            <a:ext cx="15975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Created By Jack Kelly</a:t>
            </a:r>
            <a:endParaRPr sz="1050">
              <a:latin typeface="Chakra Petch"/>
              <a:ea typeface="Chakra Petch"/>
              <a:cs typeface="Chakra Petch"/>
              <a:sym typeface="Chakra Petch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">
              <a:solidFill>
                <a:srgbClr val="FFFFFF"/>
              </a:solidFill>
              <a:latin typeface="Chakra Petch"/>
              <a:ea typeface="Chakra Petch"/>
              <a:cs typeface="Chakra Petch"/>
              <a:sym typeface="Chakra Petch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017725"/>
            <a:ext cx="4260300" cy="3608400"/>
          </a:xfrm>
          <a:prstGeom prst="rect">
            <a:avLst/>
          </a:prstGeom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Announcements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Sign in (with phrase of the day)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What is Phishing?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Why Phishing Simulations?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What is Gophish?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What is MailHog?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Architecture Overview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GoPhish Feature Exploration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GoPhish/Mailhog Docker Setup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Creating a Phishing Campaign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>
                <a:solidFill>
                  <a:schemeClr val="lt1"/>
                </a:solidFill>
              </a:rPr>
              <a:t>Egressing Phished </a:t>
            </a:r>
            <a:r>
              <a:rPr lang="en">
                <a:solidFill>
                  <a:schemeClr val="lt1"/>
                </a:solidFill>
              </a:rPr>
              <a:t>Credentials</a:t>
            </a:r>
            <a:r>
              <a:rPr lang="en">
                <a:solidFill>
                  <a:schemeClr val="lt1"/>
                </a:solidFill>
              </a:rPr>
              <a:t> </a:t>
            </a:r>
            <a:endParaRPr/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898250" y="445025"/>
            <a:ext cx="24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 in </a:t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2026800" y="4727109"/>
            <a:ext cx="5090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Phrase of the day is “</a:t>
            </a:r>
            <a:r>
              <a:rPr lang="en" sz="1800">
                <a:solidFill>
                  <a:srgbClr val="FF0000"/>
                </a:solidFill>
                <a:latin typeface="Public Sans"/>
                <a:ea typeface="Public Sans"/>
                <a:cs typeface="Public Sans"/>
                <a:sym typeface="Public Sans"/>
              </a:rPr>
              <a:t>Gone Phishin</a:t>
            </a: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”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400" y="964750"/>
            <a:ext cx="3608400" cy="360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389650"/>
            <a:ext cx="4100400" cy="31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Phishing is a social engineering attack where an attacker impersonates a trusted entity to steal information.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phishing techniques: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phishing (fake login pages, attachments)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Spear phishing (targeted attacks)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Smishing (SMS-based phishing)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Vishing (voice phishing)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13556" l="0" r="0" t="13556"/>
          <a:stretch/>
        </p:blipFill>
        <p:spPr>
          <a:xfrm>
            <a:off x="5253824" y="1544402"/>
            <a:ext cx="3578476" cy="2608275"/>
          </a:xfrm>
          <a:prstGeom prst="rect">
            <a:avLst/>
          </a:prstGeom>
          <a:noFill/>
          <a:ln cap="flat" cmpd="sng" w="3810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69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 Why Phishing Simulations?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238850" y="11006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Educate users on recognizing phishing attempts.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Assess security awareness within an organization.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Improve response times and incident handling.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What is Gophish?</a:t>
            </a:r>
            <a:endParaRPr/>
          </a:p>
        </p:txBody>
      </p:sp>
      <p:sp>
        <p:nvSpPr>
          <p:cNvPr id="85" name="Google Shape;85;p17"/>
          <p:cNvSpPr txBox="1"/>
          <p:nvPr>
            <p:ph idx="2" type="body"/>
          </p:nvPr>
        </p:nvSpPr>
        <p:spPr>
          <a:xfrm>
            <a:off x="407625" y="1276400"/>
            <a:ext cx="5736900" cy="11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Open-source phishing framework for testing awareness.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9825" y="1178125"/>
            <a:ext cx="2762250" cy="2819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7"/>
          <p:cNvSpPr txBox="1"/>
          <p:nvPr/>
        </p:nvSpPr>
        <p:spPr>
          <a:xfrm>
            <a:off x="407625" y="1809475"/>
            <a:ext cx="51825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●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Features: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○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Create email phishing campaigns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○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Track email opens, link clicks, credentials submitted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○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Generate custom landing pages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○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Lightweight and easy to deploy with Docker.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MailHog?</a:t>
            </a:r>
            <a:endParaRPr/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36775" y="1152475"/>
            <a:ext cx="4437300" cy="3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MailHog is an email testing tool that: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Acts as a local SMTP server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Captures emails sent by Gophish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Provides a web interface for viewing emails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Useful for safe phishing simulations without sending real emails.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4900" y="1232875"/>
            <a:ext cx="3502600" cy="3206600"/>
          </a:xfrm>
          <a:prstGeom prst="rect">
            <a:avLst/>
          </a:prstGeom>
          <a:noFill/>
          <a:ln cap="flat" cmpd="sng" w="28575">
            <a:solidFill>
              <a:srgbClr val="92212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Architecture Overview</a:t>
            </a:r>
            <a:endParaRPr/>
          </a:p>
        </p:txBody>
      </p:sp>
      <p:sp>
        <p:nvSpPr>
          <p:cNvPr id="100" name="Google Shape;100;p19"/>
          <p:cNvSpPr txBox="1"/>
          <p:nvPr>
            <p:ph idx="2" type="body"/>
          </p:nvPr>
        </p:nvSpPr>
        <p:spPr>
          <a:xfrm>
            <a:off x="450300" y="1210525"/>
            <a:ext cx="3669000" cy="3201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Components: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Gophish (Phishing platform)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MailHog (SMTP server for email testing)</a:t>
            </a:r>
            <a:endParaRPr sz="1800">
              <a:solidFill>
                <a:schemeClr val="lt1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Docker (for containerized setup)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572000" y="1210525"/>
            <a:ext cx="4125300" cy="3201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Workflow: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Gophish sends phishing emails via MailHog.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MailHog captures and displays emails.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Victims interact with the phishing landing page.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eriod"/>
            </a:pPr>
            <a:r>
              <a:rPr lang="en" sz="1800">
                <a:solidFill>
                  <a:schemeClr val="lt1"/>
                </a:solidFill>
              </a:rPr>
              <a:t>Gophish logs user actions.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GoPhish Features: Sender Profiles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2" type="body"/>
          </p:nvPr>
        </p:nvSpPr>
        <p:spPr>
          <a:xfrm>
            <a:off x="436775" y="1152475"/>
            <a:ext cx="39984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Key Components: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SMTP server settings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Sender name &amp; email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Authentication credentials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Ability to bypass spam filters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Importance: </a:t>
            </a:r>
            <a:endParaRPr sz="1800">
              <a:solidFill>
                <a:schemeClr val="lt1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Ensures emails are sent realistically without triggering security filters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275" y="1025725"/>
            <a:ext cx="3783232" cy="3812974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GoPhish Features: </a:t>
            </a:r>
            <a:r>
              <a:rPr lang="en">
                <a:solidFill>
                  <a:schemeClr val="lt1"/>
                </a:solidFill>
              </a:rPr>
              <a:t>Email Templates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36775" y="1152475"/>
            <a:ext cx="59694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Key Components: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Ability to import existing emails as HTML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Ability to insert variables (e.g., user name, email)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Inclusion of malicious links or attachments for testing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Can mimic real corporate communication styles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Importance: </a:t>
            </a:r>
            <a:endParaRPr sz="1800">
              <a:solidFill>
                <a:schemeClr val="lt1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Helps create realistic phishing scenarios for effective training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8575" y="1178125"/>
            <a:ext cx="2433024" cy="3158211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GoPhish Features: Landing Pages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2" type="body"/>
          </p:nvPr>
        </p:nvSpPr>
        <p:spPr>
          <a:xfrm>
            <a:off x="436775" y="1152475"/>
            <a:ext cx="5052300" cy="39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Key Components: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Easily copy existing HTML pages by URL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Forms to collect user input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Can mimic real-world login portals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Tracking for interactions (e.g., clicks, form submissions)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Automatically redirect victim to real site upon form submission.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7550" y="1086000"/>
            <a:ext cx="2877975" cy="2788750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075" y="4041375"/>
            <a:ext cx="2270930" cy="876175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GoPhish Features: Users &amp; Groups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 txBox="1"/>
          <p:nvPr>
            <p:ph idx="2" type="body"/>
          </p:nvPr>
        </p:nvSpPr>
        <p:spPr>
          <a:xfrm>
            <a:off x="436775" y="1152475"/>
            <a:ext cx="78405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Key Components: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Import users via CSV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Organize users into groups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Customize phishing scenarios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 per group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Track individual responses</a:t>
            </a:r>
            <a:endParaRPr sz="18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Importance: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Allows tailored phishing simulations per department/team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375" y="1208875"/>
            <a:ext cx="3992924" cy="2125150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GoPhish Features: </a:t>
            </a:r>
            <a:r>
              <a:rPr lang="en">
                <a:solidFill>
                  <a:schemeClr val="lt1"/>
                </a:solidFill>
              </a:rPr>
              <a:t>Campaigns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>
            <p:ph idx="2" type="body"/>
          </p:nvPr>
        </p:nvSpPr>
        <p:spPr>
          <a:xfrm>
            <a:off x="436775" y="1152475"/>
            <a:ext cx="4512300" cy="21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Key Components: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Email template selection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Targeted user groups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Scheduling and automation</a:t>
            </a:r>
            <a:endParaRPr sz="1800">
              <a:solidFill>
                <a:schemeClr val="lt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</a:pPr>
            <a:r>
              <a:rPr lang="en" sz="1800">
                <a:solidFill>
                  <a:schemeClr val="lt1"/>
                </a:solidFill>
              </a:rPr>
              <a:t>Real-time tracking (email opens, clicks, credentials entered)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436775" y="3876400"/>
            <a:ext cx="83955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●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Importance: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ublic Sans"/>
              <a:buChar char="○"/>
            </a:pPr>
            <a:r>
              <a:rPr lang="en" sz="18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Provides actionable insights into organizational phishing risks</a:t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38" name="Google Shape;13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500" y="939450"/>
            <a:ext cx="3156950" cy="3156950"/>
          </a:xfrm>
          <a:prstGeom prst="rect">
            <a:avLst/>
          </a:prstGeom>
          <a:noFill/>
          <a:ln cap="flat" cmpd="sng" w="28575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281475" y="13702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Pause</a:t>
            </a:r>
            <a:endParaRPr/>
          </a:p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281475" y="2940150"/>
            <a:ext cx="4045200" cy="8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Next: </a:t>
            </a:r>
            <a:r>
              <a:rPr lang="en">
                <a:solidFill>
                  <a:srgbClr val="1ABC9C"/>
                </a:solidFill>
              </a:rPr>
              <a:t>GoPhish Demo</a:t>
            </a:r>
            <a:endParaRPr>
              <a:solidFill>
                <a:srgbClr val="1ABC9C"/>
              </a:solidFill>
            </a:endParaRPr>
          </a:p>
        </p:txBody>
      </p:sp>
      <p:sp>
        <p:nvSpPr>
          <p:cNvPr id="145" name="Google Shape;145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Questions?</a:t>
            </a:r>
            <a:endParaRPr b="1"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Installing Gophish &amp; MailHog with Docker</a:t>
            </a:r>
            <a:endParaRPr/>
          </a:p>
        </p:txBody>
      </p:sp>
      <p:sp>
        <p:nvSpPr>
          <p:cNvPr id="151" name="Google Shape;151;p26"/>
          <p:cNvSpPr txBox="1"/>
          <p:nvPr>
            <p:ph idx="2" type="body"/>
          </p:nvPr>
        </p:nvSpPr>
        <p:spPr>
          <a:xfrm>
            <a:off x="436775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Use docker compose to create a container with GoPhish and MailHog pre-configured.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In the same directory as your </a:t>
            </a:r>
            <a:r>
              <a:rPr i="1" lang="en" sz="1800">
                <a:solidFill>
                  <a:srgbClr val="1ABC9C"/>
                </a:solidFill>
              </a:rPr>
              <a:t>docker-compose.yaml </a:t>
            </a:r>
            <a:r>
              <a:rPr lang="en" sz="1800">
                <a:solidFill>
                  <a:schemeClr val="lt1"/>
                </a:solidFill>
              </a:rPr>
              <a:t>file, run the following command: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$ </a:t>
            </a:r>
            <a:r>
              <a:rPr b="1" lang="en" sz="18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docker-compose up -d</a:t>
            </a:r>
            <a:endParaRPr b="1" sz="1800">
              <a:solidFill>
                <a:srgbClr val="FFFF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0125" y="1165225"/>
            <a:ext cx="3352800" cy="3390900"/>
          </a:xfrm>
          <a:prstGeom prst="rect">
            <a:avLst/>
          </a:prstGeom>
          <a:noFill/>
          <a:ln cap="flat" cmpd="sng" w="19050">
            <a:solidFill>
              <a:srgbClr val="1ABC9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" name="Google Shape;153;p26"/>
          <p:cNvSpPr txBox="1"/>
          <p:nvPr/>
        </p:nvSpPr>
        <p:spPr>
          <a:xfrm>
            <a:off x="5800725" y="4512100"/>
            <a:ext cx="16716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ABC9C"/>
                </a:solidFill>
                <a:latin typeface="Public Sans"/>
                <a:ea typeface="Public Sans"/>
                <a:cs typeface="Public Sans"/>
                <a:sym typeface="Public Sans"/>
              </a:rPr>
              <a:t>docker-compose.yaml</a:t>
            </a:r>
            <a:endParaRPr sz="1100">
              <a:solidFill>
                <a:srgbClr val="1ABC9C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5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</a:rPr>
              <a:t>Finding GoPhish Default Credentials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7"/>
          <p:cNvSpPr txBox="1"/>
          <p:nvPr>
            <p:ph idx="2" type="body"/>
          </p:nvPr>
        </p:nvSpPr>
        <p:spPr>
          <a:xfrm>
            <a:off x="436775" y="1152475"/>
            <a:ext cx="8333400" cy="17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800">
                <a:solidFill>
                  <a:schemeClr val="lt1"/>
                </a:solidFill>
              </a:rPr>
              <a:t>GoPhish will create a randomly generated password for the ‘admin’ user to use for the first login. To find this password, search the docker logs via this command: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$ </a:t>
            </a:r>
            <a:r>
              <a:rPr lang="en" sz="1600">
                <a:solidFill>
                  <a:srgbClr val="FFFF00"/>
                </a:solidFill>
              </a:rPr>
              <a:t>docker logs </a:t>
            </a:r>
            <a:r>
              <a:rPr lang="en" sz="1600">
                <a:solidFill>
                  <a:srgbClr val="EB6658"/>
                </a:solidFill>
              </a:rPr>
              <a:t>{container name}</a:t>
            </a:r>
            <a:r>
              <a:rPr lang="en" sz="1600">
                <a:solidFill>
                  <a:srgbClr val="FFFF00"/>
                </a:solidFill>
              </a:rPr>
              <a:t> | grep "User: admin"</a:t>
            </a:r>
            <a:endParaRPr sz="1600">
              <a:solidFill>
                <a:srgbClr val="FFFF00"/>
              </a:solidFill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506525" y="3214550"/>
            <a:ext cx="4690800" cy="15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If using docker desktop, you can </a:t>
            </a:r>
            <a:r>
              <a:rPr lang="en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alternatively</a:t>
            </a:r>
            <a:r>
              <a:rPr lang="en" sz="170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search the logs via the app:</a:t>
            </a:r>
            <a:endParaRPr sz="170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126" y="2837275"/>
            <a:ext cx="3817050" cy="2075449"/>
          </a:xfrm>
          <a:prstGeom prst="rect">
            <a:avLst/>
          </a:prstGeom>
          <a:noFill/>
          <a:ln cap="flat" cmpd="sng" w="28575">
            <a:solidFill>
              <a:srgbClr val="00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type="title"/>
          </p:nvPr>
        </p:nvSpPr>
        <p:spPr>
          <a:xfrm>
            <a:off x="311700" y="304375"/>
            <a:ext cx="8520600" cy="8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Thank You!</a:t>
            </a:r>
            <a:endParaRPr sz="5000"/>
          </a:p>
        </p:txBody>
      </p:sp>
      <p:sp>
        <p:nvSpPr>
          <p:cNvPr id="167" name="Google Shape;167;p28"/>
          <p:cNvSpPr txBox="1"/>
          <p:nvPr>
            <p:ph idx="2" type="body"/>
          </p:nvPr>
        </p:nvSpPr>
        <p:spPr>
          <a:xfrm>
            <a:off x="2319900" y="1188775"/>
            <a:ext cx="4504200" cy="19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Jack Kelly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/>
              <a:t>Vice President</a:t>
            </a:r>
            <a:endParaRPr sz="2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B.S. Computer Science  | May 2024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M.S. Secure Computing | May 2025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168" name="Google Shape;168;p28"/>
          <p:cNvSpPr txBox="1"/>
          <p:nvPr/>
        </p:nvSpPr>
        <p:spPr>
          <a:xfrm>
            <a:off x="236980" y="4726800"/>
            <a:ext cx="26043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9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850" u="sng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- JKelly42</a:t>
            </a:r>
            <a:r>
              <a:rPr lang="en" sz="18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5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6201258" y="4726802"/>
            <a:ext cx="25518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9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u="sng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LinkedIn - JKelly423</a:t>
            </a:r>
            <a:endParaRPr sz="1850" u="sng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3658805" y="4726802"/>
            <a:ext cx="18264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9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 u="sng">
                <a:solidFill>
                  <a:srgbClr val="FFFFFF"/>
                </a:solidFill>
                <a:latin typeface="Chakra Petch"/>
                <a:ea typeface="Chakra Petch"/>
                <a:cs typeface="Chakra Petch"/>
                <a:sym typeface="Chakra Petch"/>
              </a:rPr>
              <a:t>ResearchGate</a:t>
            </a:r>
            <a:endParaRPr sz="1850" u="sng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0987" y="3390500"/>
            <a:ext cx="1336275" cy="133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3862" y="3390513"/>
            <a:ext cx="1336276" cy="1336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9000" y="3390486"/>
            <a:ext cx="1336299" cy="1336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